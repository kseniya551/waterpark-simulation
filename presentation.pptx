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schemas.openxmlformats.org/officeDocument/2006/relationships/slide" Target="slides/slide19.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48d3e490d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48d3e490d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48d3e490d3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48d3e490d3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48d3e490d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48d3e490d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48d3e490d3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48d3e490d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843d52037e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843d52037e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48d3e490d3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48d3e490d3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48d3e490d3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48d3e490d3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48d3e490d3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48d3e490d3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843d52037e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843d52037e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843d52037e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843d52037e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48d3e490d3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48d3e490d3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48d3e490d3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48d3e490d3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48d3e490d3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48d3e490d3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48d3e490d3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48d3e490d3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843eab1e35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843eab1e35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48d3e490d3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48d3e490d3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48d3e490d3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48d3e490d3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843d52037e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843d52037e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168225"/>
            <a:ext cx="8520600" cy="2052600"/>
          </a:xfrm>
          <a:prstGeom prst="rect">
            <a:avLst/>
          </a:prstGeom>
        </p:spPr>
        <p:txBody>
          <a:bodyPr anchorCtr="0" anchor="b" bIns="91425" lIns="91425" spcFirstLastPara="1" rIns="91425" wrap="square" tIns="91425">
            <a:normAutofit/>
          </a:bodyPr>
          <a:lstStyle/>
          <a:p>
            <a:pPr indent="0" lvl="0" marL="0" rtl="1" algn="ctr">
              <a:spcBef>
                <a:spcPts val="0"/>
              </a:spcBef>
              <a:spcAft>
                <a:spcPts val="0"/>
              </a:spcAft>
              <a:buNone/>
            </a:pPr>
            <a:r>
              <a:rPr lang="iw"/>
              <a:t>סימולציית פארק מים</a:t>
            </a:r>
            <a:endParaRPr/>
          </a:p>
        </p:txBody>
      </p:sp>
      <p:sp>
        <p:nvSpPr>
          <p:cNvPr id="55" name="Google Shape;55;p13"/>
          <p:cNvSpPr txBox="1"/>
          <p:nvPr>
            <p:ph idx="1" type="subTitle"/>
          </p:nvPr>
        </p:nvSpPr>
        <p:spPr>
          <a:xfrm>
            <a:off x="311700" y="2834125"/>
            <a:ext cx="3818400" cy="792600"/>
          </a:xfrm>
          <a:prstGeom prst="rect">
            <a:avLst/>
          </a:prstGeom>
        </p:spPr>
        <p:txBody>
          <a:bodyPr anchorCtr="0" anchor="t" bIns="91425" lIns="91425" spcFirstLastPara="1" rIns="91425" wrap="square" tIns="91425">
            <a:normAutofit/>
          </a:bodyPr>
          <a:lstStyle/>
          <a:p>
            <a:pPr indent="0" lvl="0" marL="0" rtl="1" algn="ctr">
              <a:spcBef>
                <a:spcPts val="0"/>
              </a:spcBef>
              <a:spcAft>
                <a:spcPts val="0"/>
              </a:spcAft>
              <a:buNone/>
            </a:pPr>
            <a:r>
              <a:rPr lang="iw">
                <a:solidFill>
                  <a:schemeClr val="dk1"/>
                </a:solidFill>
              </a:rPr>
              <a:t>מגישה: קסניה דרדיק</a:t>
            </a:r>
            <a:endParaRPr>
              <a:solidFill>
                <a:schemeClr val="dk1"/>
              </a:solidFill>
            </a:endParaRPr>
          </a:p>
        </p:txBody>
      </p:sp>
      <p:pic>
        <p:nvPicPr>
          <p:cNvPr id="56" name="Google Shape;56;p13"/>
          <p:cNvPicPr preferRelativeResize="0"/>
          <p:nvPr/>
        </p:nvPicPr>
        <p:blipFill>
          <a:blip r:embed="rId3">
            <a:alphaModFix amt="52000"/>
          </a:blip>
          <a:stretch>
            <a:fillRect/>
          </a:stretch>
        </p:blipFill>
        <p:spPr>
          <a:xfrm>
            <a:off x="28000" y="0"/>
            <a:ext cx="9088000"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iw"/>
              <a:t>הסבר קצר על הסימולציה שבחרתי</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1" algn="r">
              <a:lnSpc>
                <a:spcPct val="100000"/>
              </a:lnSpc>
              <a:spcBef>
                <a:spcPts val="0"/>
              </a:spcBef>
              <a:spcAft>
                <a:spcPts val="0"/>
              </a:spcAft>
              <a:buNone/>
            </a:pPr>
            <a:r>
              <a:rPr lang="iw">
                <a:solidFill>
                  <a:schemeClr val="dk1"/>
                </a:solidFill>
              </a:rPr>
              <a:t>בחרתי לעשות סימולציה מסוג </a:t>
            </a:r>
            <a:r>
              <a:rPr lang="iw">
                <a:solidFill>
                  <a:schemeClr val="dk1"/>
                </a:solidFill>
              </a:rPr>
              <a:t>Discrete-Event Simulation</a:t>
            </a:r>
            <a:endParaRPr>
              <a:solidFill>
                <a:schemeClr val="dk1"/>
              </a:solidFill>
            </a:endParaRPr>
          </a:p>
          <a:p>
            <a:pPr indent="0" lvl="0" marL="0" rtl="1" algn="r">
              <a:lnSpc>
                <a:spcPct val="100000"/>
              </a:lnSpc>
              <a:spcBef>
                <a:spcPts val="0"/>
              </a:spcBef>
              <a:spcAft>
                <a:spcPts val="0"/>
              </a:spcAft>
              <a:buNone/>
            </a:pPr>
            <a:r>
              <a:rPr lang="iw">
                <a:solidFill>
                  <a:schemeClr val="dk1"/>
                </a:solidFill>
              </a:rPr>
              <a:t>של פארק מים. </a:t>
            </a:r>
            <a:endParaRPr>
              <a:solidFill>
                <a:schemeClr val="dk1"/>
              </a:solidFill>
            </a:endParaRPr>
          </a:p>
          <a:p>
            <a:pPr indent="0" lvl="0" marL="0" rtl="1" algn="r">
              <a:lnSpc>
                <a:spcPct val="100000"/>
              </a:lnSpc>
              <a:spcBef>
                <a:spcPts val="0"/>
              </a:spcBef>
              <a:spcAft>
                <a:spcPts val="0"/>
              </a:spcAft>
              <a:buNone/>
            </a:pPr>
            <a:r>
              <a:rPr lang="iw">
                <a:solidFill>
                  <a:schemeClr val="dk1"/>
                </a:solidFill>
              </a:rPr>
              <a:t>בסימולציה יש 3 מגלשות, בכל "יום" של סימולציה יכנסו לפארק המים בין 100 ל150 אנשים, נדע כמה אנשים נכנסים לפארק לפי RANDOM כי בחיים האמיתיים אין באמת כמות אנשים שווה שנכנסת לפארק בכל יום אז בשביל שהסימולציה תיהיה ריאלסטית יותר צריך שכמות האנשים תיהיה לא צפויה מראש.</a:t>
            </a:r>
            <a:endParaRPr>
              <a:solidFill>
                <a:schemeClr val="dk1"/>
              </a:solidFill>
            </a:endParaRPr>
          </a:p>
          <a:p>
            <a:pPr indent="0" lvl="0" marL="0" rtl="1" algn="r">
              <a:spcBef>
                <a:spcPts val="0"/>
              </a:spcBef>
              <a:spcAft>
                <a:spcPts val="1200"/>
              </a:spcAft>
              <a:buClr>
                <a:schemeClr val="dk1"/>
              </a:buClr>
              <a:buSzPts val="1100"/>
              <a:buFont typeface="Arial"/>
              <a:buNone/>
            </a:pPr>
            <a:r>
              <a:rPr lang="iw">
                <a:solidFill>
                  <a:schemeClr val="dk1"/>
                </a:solidFill>
              </a:rPr>
              <a:t>בפארק המים יש 3 קופות. הפארק יעבוד מ8 בבוקר עד 17 בצהריים, 20 דקות לפני שהפארק נסגר האנשים מתחילים לצאת מהפארק ודקה לפני הסגירה כל האנשים שעוד נשארו בפארק יוצאים כולם ביחד בין אם הם סיימו להתגלש או לא.</a:t>
            </a:r>
            <a:endParaRPr>
              <a:solidFill>
                <a:schemeClr val="dk1"/>
              </a:solidFill>
            </a:endParaRPr>
          </a:p>
        </p:txBody>
      </p:sp>
      <p:pic>
        <p:nvPicPr>
          <p:cNvPr id="63" name="Google Shape;63;p14"/>
          <p:cNvPicPr preferRelativeResize="0"/>
          <p:nvPr/>
        </p:nvPicPr>
        <p:blipFill>
          <a:blip r:embed="rId3">
            <a:alphaModFix amt="30000"/>
          </a:blip>
          <a:stretch>
            <a:fillRect/>
          </a:stretch>
        </p:blipFill>
        <p:spPr>
          <a:xfrm>
            <a:off x="-54375" y="-7"/>
            <a:ext cx="9144000" cy="520908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iw"/>
              <a:t>המשך הסבר על הסימולציה</a:t>
            </a:r>
            <a:endParaRPr/>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solidFill>
                  <a:schemeClr val="dk1"/>
                </a:solidFill>
              </a:rPr>
              <a:t>כל מבקר יעבור במגלשת מים אחת לפחות, בעזרת RANDOM נחליט כמה מגלשות יעבור כל מבקר ובאיזה מגלשות הוא יעבור.</a:t>
            </a:r>
            <a:endParaRPr>
              <a:solidFill>
                <a:schemeClr val="dk1"/>
              </a:solidFill>
            </a:endParaRPr>
          </a:p>
          <a:p>
            <a:pPr indent="0" lvl="0" marL="0" rtl="1" algn="r">
              <a:spcBef>
                <a:spcPts val="1200"/>
              </a:spcBef>
              <a:spcAft>
                <a:spcPts val="0"/>
              </a:spcAft>
              <a:buNone/>
            </a:pPr>
            <a:r>
              <a:rPr lang="iw">
                <a:solidFill>
                  <a:schemeClr val="dk1"/>
                </a:solidFill>
              </a:rPr>
              <a:t>אחרי שמבקר יצא מהפארק הוא נחשב כזה שסיים את היום שלו בפארק "ונמחק מהמערכת". </a:t>
            </a:r>
            <a:endParaRPr>
              <a:solidFill>
                <a:schemeClr val="dk1"/>
              </a:solidFill>
            </a:endParaRPr>
          </a:p>
          <a:p>
            <a:pPr indent="0" lvl="0" marL="0" rtl="1" algn="r">
              <a:spcBef>
                <a:spcPts val="1200"/>
              </a:spcBef>
              <a:spcAft>
                <a:spcPts val="1200"/>
              </a:spcAft>
              <a:buNone/>
            </a:pPr>
            <a:r>
              <a:rPr lang="iw">
                <a:solidFill>
                  <a:schemeClr val="dk1"/>
                </a:solidFill>
              </a:rPr>
              <a:t>ברגע שמריצים את הקוד הסימולציה מריצה בכל פעם רק יום אחד, כלומר אם רוצים שיהיה סיכום של כמה ימים צריך להריץ את הקוד כמה פעמים כאשר כל פעם שמריצים את הקוד זה יום נוסף, כלומר אם מריצים את הקוד 10 פעמים אז זה אומר שהיו 10 ימי סימולציה.</a:t>
            </a:r>
            <a:endParaRPr>
              <a:solidFill>
                <a:schemeClr val="dk1"/>
              </a:solidFill>
            </a:endParaRPr>
          </a:p>
        </p:txBody>
      </p:sp>
      <p:pic>
        <p:nvPicPr>
          <p:cNvPr id="70" name="Google Shape;70;p15"/>
          <p:cNvPicPr preferRelativeResize="0"/>
          <p:nvPr/>
        </p:nvPicPr>
        <p:blipFill>
          <a:blip r:embed="rId3">
            <a:alphaModFix amt="40000"/>
          </a:blip>
          <a:stretch>
            <a:fillRect/>
          </a:stretch>
        </p:blipFill>
        <p:spPr>
          <a:xfrm>
            <a:off x="0" y="0"/>
            <a:ext cx="9144000"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idx="1" type="body"/>
          </p:nvPr>
        </p:nvSpPr>
        <p:spPr>
          <a:xfrm>
            <a:off x="6870525" y="1078825"/>
            <a:ext cx="2024700" cy="2901300"/>
          </a:xfrm>
          <a:prstGeom prst="rect">
            <a:avLst/>
          </a:prstGeom>
        </p:spPr>
        <p:txBody>
          <a:bodyPr anchorCtr="0" anchor="t" bIns="91425" lIns="91425" spcFirstLastPara="1" rIns="91425" wrap="square" tIns="91425">
            <a:normAutofit/>
          </a:bodyPr>
          <a:lstStyle/>
          <a:p>
            <a:pPr indent="0" lvl="0" marL="0" rtl="1" algn="r">
              <a:lnSpc>
                <a:spcPct val="100000"/>
              </a:lnSpc>
              <a:spcBef>
                <a:spcPts val="0"/>
              </a:spcBef>
              <a:spcAft>
                <a:spcPts val="0"/>
              </a:spcAft>
              <a:buNone/>
            </a:pPr>
            <a:r>
              <a:rPr lang="iw">
                <a:solidFill>
                  <a:schemeClr val="dk1"/>
                </a:solidFill>
              </a:rPr>
              <a:t>לקוח:</a:t>
            </a:r>
            <a:endParaRPr>
              <a:solidFill>
                <a:schemeClr val="dk1"/>
              </a:solidFill>
            </a:endParaRPr>
          </a:p>
          <a:p>
            <a:pPr indent="0" lvl="0" marL="0" rtl="1" algn="r">
              <a:lnSpc>
                <a:spcPct val="100000"/>
              </a:lnSpc>
              <a:spcBef>
                <a:spcPts val="0"/>
              </a:spcBef>
              <a:spcAft>
                <a:spcPts val="0"/>
              </a:spcAft>
              <a:buNone/>
            </a:pPr>
            <a:r>
              <a:t/>
            </a:r>
            <a:endParaRPr>
              <a:solidFill>
                <a:schemeClr val="dk1"/>
              </a:solidFill>
            </a:endParaRPr>
          </a:p>
          <a:p>
            <a:pPr indent="-342900" lvl="0" marL="457200" rtl="1" algn="r">
              <a:lnSpc>
                <a:spcPct val="100000"/>
              </a:lnSpc>
              <a:spcBef>
                <a:spcPts val="0"/>
              </a:spcBef>
              <a:spcAft>
                <a:spcPts val="0"/>
              </a:spcAft>
              <a:buClr>
                <a:schemeClr val="dk1"/>
              </a:buClr>
              <a:buSzPts val="1800"/>
              <a:buAutoNum type="arabicPeriod"/>
            </a:pPr>
            <a:r>
              <a:rPr lang="iw">
                <a:solidFill>
                  <a:schemeClr val="dk1"/>
                </a:solidFill>
              </a:rPr>
              <a:t>יצא מהפארק</a:t>
            </a:r>
            <a:endParaRPr>
              <a:solidFill>
                <a:schemeClr val="dk1"/>
              </a:solidFill>
            </a:endParaRPr>
          </a:p>
          <a:p>
            <a:pPr indent="0" lvl="0" marL="0" rtl="1" algn="r">
              <a:spcBef>
                <a:spcPts val="0"/>
              </a:spcBef>
              <a:spcAft>
                <a:spcPts val="1200"/>
              </a:spcAft>
              <a:buNone/>
            </a:pPr>
            <a:r>
              <a:t/>
            </a:r>
            <a:endParaRPr>
              <a:solidFill>
                <a:schemeClr val="dk1"/>
              </a:solidFill>
            </a:endParaRPr>
          </a:p>
        </p:txBody>
      </p:sp>
      <p:sp>
        <p:nvSpPr>
          <p:cNvPr id="76" name="Google Shape;76;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iw"/>
              <a:t>תיאור אירועים שונים שיכולים להיות: 		</a:t>
            </a:r>
            <a:endParaRPr/>
          </a:p>
        </p:txBody>
      </p:sp>
      <p:sp>
        <p:nvSpPr>
          <p:cNvPr id="77" name="Google Shape;77;p16"/>
          <p:cNvSpPr txBox="1"/>
          <p:nvPr/>
        </p:nvSpPr>
        <p:spPr>
          <a:xfrm>
            <a:off x="3901650" y="1078825"/>
            <a:ext cx="1774800" cy="2401200"/>
          </a:xfrm>
          <a:prstGeom prst="rect">
            <a:avLst/>
          </a:prstGeom>
          <a:noFill/>
          <a:ln>
            <a:noFill/>
          </a:ln>
        </p:spPr>
        <p:txBody>
          <a:bodyPr anchorCtr="0" anchor="t" bIns="91425" lIns="91425" spcFirstLastPara="1" rIns="91425" wrap="square" tIns="91425">
            <a:spAutoFit/>
          </a:bodyPr>
          <a:lstStyle/>
          <a:p>
            <a:pPr indent="0" lvl="0" marL="0" rtl="1" algn="r">
              <a:spcBef>
                <a:spcPts val="0"/>
              </a:spcBef>
              <a:spcAft>
                <a:spcPts val="0"/>
              </a:spcAft>
              <a:buNone/>
            </a:pPr>
            <a:r>
              <a:rPr lang="iw" sz="1800">
                <a:solidFill>
                  <a:schemeClr val="dk1"/>
                </a:solidFill>
              </a:rPr>
              <a:t>קופות:</a:t>
            </a:r>
            <a:endParaRPr sz="1800">
              <a:solidFill>
                <a:schemeClr val="dk1"/>
              </a:solidFill>
            </a:endParaRPr>
          </a:p>
          <a:p>
            <a:pPr indent="0" lvl="0" marL="0" rtl="1" algn="r">
              <a:spcBef>
                <a:spcPts val="0"/>
              </a:spcBef>
              <a:spcAft>
                <a:spcPts val="0"/>
              </a:spcAft>
              <a:buNone/>
            </a:pPr>
            <a:r>
              <a:t/>
            </a:r>
            <a:endParaRPr sz="1800">
              <a:solidFill>
                <a:schemeClr val="dk1"/>
              </a:solidFill>
            </a:endParaRPr>
          </a:p>
          <a:p>
            <a:pPr indent="-342900" lvl="0" marL="457200" rtl="1" algn="r">
              <a:spcBef>
                <a:spcPts val="0"/>
              </a:spcBef>
              <a:spcAft>
                <a:spcPts val="0"/>
              </a:spcAft>
              <a:buClr>
                <a:schemeClr val="dk1"/>
              </a:buClr>
              <a:buSzPts val="1800"/>
              <a:buAutoNum type="arabicPeriod"/>
            </a:pPr>
            <a:r>
              <a:rPr lang="iw" sz="1800">
                <a:solidFill>
                  <a:schemeClr val="dk1"/>
                </a:solidFill>
              </a:rPr>
              <a:t>פנוי</a:t>
            </a:r>
            <a:endParaRPr sz="1800">
              <a:solidFill>
                <a:schemeClr val="dk1"/>
              </a:solidFill>
            </a:endParaRPr>
          </a:p>
          <a:p>
            <a:pPr indent="0" lvl="0" marL="457200" rtl="1" algn="r">
              <a:spcBef>
                <a:spcPts val="0"/>
              </a:spcBef>
              <a:spcAft>
                <a:spcPts val="0"/>
              </a:spcAft>
              <a:buNone/>
            </a:pPr>
            <a:r>
              <a:t/>
            </a:r>
            <a:endParaRPr sz="1800">
              <a:solidFill>
                <a:schemeClr val="dk1"/>
              </a:solidFill>
            </a:endParaRPr>
          </a:p>
          <a:p>
            <a:pPr indent="-342900" lvl="0" marL="457200" rtl="1" algn="r">
              <a:spcBef>
                <a:spcPts val="0"/>
              </a:spcBef>
              <a:spcAft>
                <a:spcPts val="0"/>
              </a:spcAft>
              <a:buClr>
                <a:schemeClr val="dk1"/>
              </a:buClr>
              <a:buSzPts val="1800"/>
              <a:buAutoNum type="arabicPeriod"/>
            </a:pPr>
            <a:r>
              <a:rPr lang="iw" sz="1800">
                <a:solidFill>
                  <a:schemeClr val="dk1"/>
                </a:solidFill>
              </a:rPr>
              <a:t>תפוס</a:t>
            </a:r>
            <a:endParaRPr sz="1800">
              <a:solidFill>
                <a:schemeClr val="dk1"/>
              </a:solidFill>
            </a:endParaRPr>
          </a:p>
          <a:p>
            <a:pPr indent="0" lvl="0" marL="457200" rtl="1" algn="r">
              <a:spcBef>
                <a:spcPts val="0"/>
              </a:spcBef>
              <a:spcAft>
                <a:spcPts val="0"/>
              </a:spcAft>
              <a:buNone/>
            </a:pPr>
            <a:r>
              <a:t/>
            </a:r>
            <a:endParaRPr sz="1800">
              <a:solidFill>
                <a:schemeClr val="dk1"/>
              </a:solidFill>
            </a:endParaRPr>
          </a:p>
          <a:p>
            <a:pPr indent="0" lvl="0" marL="0" rtl="1" algn="r">
              <a:spcBef>
                <a:spcPts val="0"/>
              </a:spcBef>
              <a:spcAft>
                <a:spcPts val="0"/>
              </a:spcAft>
              <a:buNone/>
            </a:pPr>
            <a:r>
              <a:t/>
            </a:r>
            <a:endParaRPr sz="1800">
              <a:solidFill>
                <a:schemeClr val="dk1"/>
              </a:solidFill>
            </a:endParaRPr>
          </a:p>
          <a:p>
            <a:pPr indent="0" lvl="0" marL="457200" rtl="1" algn="r">
              <a:spcBef>
                <a:spcPts val="0"/>
              </a:spcBef>
              <a:spcAft>
                <a:spcPts val="0"/>
              </a:spcAft>
              <a:buNone/>
            </a:pPr>
            <a:r>
              <a:t/>
            </a:r>
            <a:endParaRPr sz="1800">
              <a:solidFill>
                <a:schemeClr val="dk1"/>
              </a:solidFill>
            </a:endParaRPr>
          </a:p>
        </p:txBody>
      </p:sp>
      <p:sp>
        <p:nvSpPr>
          <p:cNvPr id="78" name="Google Shape;78;p16"/>
          <p:cNvSpPr txBox="1"/>
          <p:nvPr/>
        </p:nvSpPr>
        <p:spPr>
          <a:xfrm>
            <a:off x="682875" y="1078825"/>
            <a:ext cx="2024700" cy="1847100"/>
          </a:xfrm>
          <a:prstGeom prst="rect">
            <a:avLst/>
          </a:prstGeom>
          <a:noFill/>
          <a:ln>
            <a:noFill/>
          </a:ln>
        </p:spPr>
        <p:txBody>
          <a:bodyPr anchorCtr="0" anchor="t" bIns="91425" lIns="91425" spcFirstLastPara="1" rIns="91425" wrap="square" tIns="91425">
            <a:spAutoFit/>
          </a:bodyPr>
          <a:lstStyle/>
          <a:p>
            <a:pPr indent="0" lvl="0" marL="0" rtl="1" algn="r">
              <a:spcBef>
                <a:spcPts val="0"/>
              </a:spcBef>
              <a:spcAft>
                <a:spcPts val="0"/>
              </a:spcAft>
              <a:buNone/>
            </a:pPr>
            <a:r>
              <a:rPr lang="iw" sz="1800">
                <a:solidFill>
                  <a:schemeClr val="dk1"/>
                </a:solidFill>
              </a:rPr>
              <a:t>מגלשות:</a:t>
            </a:r>
            <a:endParaRPr sz="1800">
              <a:solidFill>
                <a:schemeClr val="dk1"/>
              </a:solidFill>
            </a:endParaRPr>
          </a:p>
          <a:p>
            <a:pPr indent="0" lvl="0" marL="0" rtl="1" algn="r">
              <a:spcBef>
                <a:spcPts val="0"/>
              </a:spcBef>
              <a:spcAft>
                <a:spcPts val="0"/>
              </a:spcAft>
              <a:buNone/>
            </a:pPr>
            <a:r>
              <a:t/>
            </a:r>
            <a:endParaRPr sz="1800">
              <a:solidFill>
                <a:schemeClr val="dk1"/>
              </a:solidFill>
            </a:endParaRPr>
          </a:p>
          <a:p>
            <a:pPr indent="-342900" lvl="0" marL="457200" rtl="1" algn="r">
              <a:spcBef>
                <a:spcPts val="0"/>
              </a:spcBef>
              <a:spcAft>
                <a:spcPts val="0"/>
              </a:spcAft>
              <a:buClr>
                <a:schemeClr val="dk1"/>
              </a:buClr>
              <a:buSzPts val="1800"/>
              <a:buAutoNum type="arabicPeriod"/>
            </a:pPr>
            <a:r>
              <a:rPr lang="iw" sz="1800">
                <a:solidFill>
                  <a:schemeClr val="dk1"/>
                </a:solidFill>
              </a:rPr>
              <a:t>פנוי</a:t>
            </a:r>
            <a:endParaRPr sz="1800">
              <a:solidFill>
                <a:schemeClr val="dk1"/>
              </a:solidFill>
            </a:endParaRPr>
          </a:p>
          <a:p>
            <a:pPr indent="0" lvl="0" marL="457200" rtl="1" algn="r">
              <a:spcBef>
                <a:spcPts val="0"/>
              </a:spcBef>
              <a:spcAft>
                <a:spcPts val="0"/>
              </a:spcAft>
              <a:buNone/>
            </a:pPr>
            <a:r>
              <a:t/>
            </a:r>
            <a:endParaRPr sz="1800">
              <a:solidFill>
                <a:schemeClr val="dk1"/>
              </a:solidFill>
            </a:endParaRPr>
          </a:p>
          <a:p>
            <a:pPr indent="-342900" lvl="0" marL="457200" rtl="1" algn="r">
              <a:spcBef>
                <a:spcPts val="0"/>
              </a:spcBef>
              <a:spcAft>
                <a:spcPts val="0"/>
              </a:spcAft>
              <a:buClr>
                <a:schemeClr val="dk1"/>
              </a:buClr>
              <a:buSzPts val="1800"/>
              <a:buAutoNum type="arabicPeriod"/>
            </a:pPr>
            <a:r>
              <a:rPr lang="iw" sz="1800">
                <a:solidFill>
                  <a:schemeClr val="dk1"/>
                </a:solidFill>
              </a:rPr>
              <a:t>תפוס</a:t>
            </a:r>
            <a:endParaRPr sz="1800">
              <a:solidFill>
                <a:schemeClr val="dk1"/>
              </a:solidFill>
            </a:endParaRPr>
          </a:p>
          <a:p>
            <a:pPr indent="0" lvl="0" marL="0" rtl="1" algn="r">
              <a:spcBef>
                <a:spcPts val="0"/>
              </a:spcBef>
              <a:spcAft>
                <a:spcPts val="0"/>
              </a:spcAft>
              <a:buNone/>
            </a:pPr>
            <a:r>
              <a:t/>
            </a:r>
            <a:endParaRPr sz="1800">
              <a:solidFill>
                <a:schemeClr val="dk1"/>
              </a:solidFill>
            </a:endParaRPr>
          </a:p>
        </p:txBody>
      </p:sp>
      <p:cxnSp>
        <p:nvCxnSpPr>
          <p:cNvPr id="79" name="Google Shape;79;p16"/>
          <p:cNvCxnSpPr/>
          <p:nvPr/>
        </p:nvCxnSpPr>
        <p:spPr>
          <a:xfrm>
            <a:off x="-45650" y="1472375"/>
            <a:ext cx="9145200" cy="0"/>
          </a:xfrm>
          <a:prstGeom prst="straightConnector1">
            <a:avLst/>
          </a:prstGeom>
          <a:noFill/>
          <a:ln cap="flat" cmpd="sng" w="9525">
            <a:solidFill>
              <a:schemeClr val="dk2"/>
            </a:solidFill>
            <a:prstDash val="solid"/>
            <a:round/>
            <a:headEnd len="med" w="med" type="none"/>
            <a:tailEnd len="med" w="med" type="none"/>
          </a:ln>
        </p:spPr>
      </p:cxnSp>
      <p:cxnSp>
        <p:nvCxnSpPr>
          <p:cNvPr id="80" name="Google Shape;80;p16"/>
          <p:cNvCxnSpPr/>
          <p:nvPr/>
        </p:nvCxnSpPr>
        <p:spPr>
          <a:xfrm>
            <a:off x="6587600" y="1080900"/>
            <a:ext cx="0" cy="4067100"/>
          </a:xfrm>
          <a:prstGeom prst="straightConnector1">
            <a:avLst/>
          </a:prstGeom>
          <a:noFill/>
          <a:ln cap="flat" cmpd="sng" w="9525">
            <a:solidFill>
              <a:schemeClr val="dk2"/>
            </a:solidFill>
            <a:prstDash val="solid"/>
            <a:round/>
            <a:headEnd len="med" w="med" type="none"/>
            <a:tailEnd len="med" w="med" type="none"/>
          </a:ln>
        </p:spPr>
      </p:cxnSp>
      <p:cxnSp>
        <p:nvCxnSpPr>
          <p:cNvPr id="81" name="Google Shape;81;p16"/>
          <p:cNvCxnSpPr/>
          <p:nvPr/>
        </p:nvCxnSpPr>
        <p:spPr>
          <a:xfrm flipH="1">
            <a:off x="3629950" y="1080900"/>
            <a:ext cx="21600" cy="4088700"/>
          </a:xfrm>
          <a:prstGeom prst="straightConnector1">
            <a:avLst/>
          </a:prstGeom>
          <a:noFill/>
          <a:ln cap="flat" cmpd="sng" w="9525">
            <a:solidFill>
              <a:schemeClr val="dk2"/>
            </a:solidFill>
            <a:prstDash val="solid"/>
            <a:round/>
            <a:headEnd len="med" w="med" type="none"/>
            <a:tailEnd len="med" w="med" type="none"/>
          </a:ln>
        </p:spPr>
      </p:cxnSp>
      <p:pic>
        <p:nvPicPr>
          <p:cNvPr id="82" name="Google Shape;82;p16"/>
          <p:cNvPicPr preferRelativeResize="0"/>
          <p:nvPr/>
        </p:nvPicPr>
        <p:blipFill>
          <a:blip r:embed="rId3">
            <a:alphaModFix amt="40000"/>
          </a:blip>
          <a:stretch>
            <a:fillRect/>
          </a:stretch>
        </p:blipFill>
        <p:spPr>
          <a:xfrm>
            <a:off x="0" y="26100"/>
            <a:ext cx="9144000"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228650" y="21667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iw"/>
              <a:t>שימוש בSTRUCT</a:t>
            </a:r>
            <a:endParaRPr/>
          </a:p>
        </p:txBody>
      </p:sp>
      <p:sp>
        <p:nvSpPr>
          <p:cNvPr id="88" name="Google Shape;88;p17"/>
          <p:cNvSpPr txBox="1"/>
          <p:nvPr>
            <p:ph idx="1" type="body"/>
          </p:nvPr>
        </p:nvSpPr>
        <p:spPr>
          <a:xfrm>
            <a:off x="1215700" y="789375"/>
            <a:ext cx="1364100" cy="572700"/>
          </a:xfrm>
          <a:prstGeom prst="rect">
            <a:avLst/>
          </a:prstGeom>
        </p:spPr>
        <p:txBody>
          <a:bodyPr anchorCtr="0" anchor="t" bIns="91425" lIns="91425" spcFirstLastPara="1" rIns="91425" wrap="square" tIns="91425">
            <a:normAutofit/>
          </a:bodyPr>
          <a:lstStyle/>
          <a:p>
            <a:pPr indent="0" lvl="0" marL="0" rtl="1" algn="r">
              <a:spcBef>
                <a:spcPts val="0"/>
              </a:spcBef>
              <a:spcAft>
                <a:spcPts val="1200"/>
              </a:spcAft>
              <a:buNone/>
            </a:pPr>
            <a:r>
              <a:rPr lang="iw">
                <a:solidFill>
                  <a:schemeClr val="dk1"/>
                </a:solidFill>
              </a:rPr>
              <a:t>לקוח\</a:t>
            </a:r>
            <a:r>
              <a:rPr lang="iw">
                <a:solidFill>
                  <a:schemeClr val="dk1"/>
                </a:solidFill>
              </a:rPr>
              <a:t>מבקר:</a:t>
            </a:r>
            <a:endParaRPr>
              <a:solidFill>
                <a:schemeClr val="dk1"/>
              </a:solidFill>
            </a:endParaRPr>
          </a:p>
        </p:txBody>
      </p:sp>
      <p:sp>
        <p:nvSpPr>
          <p:cNvPr id="89" name="Google Shape;89;p17"/>
          <p:cNvSpPr txBox="1"/>
          <p:nvPr/>
        </p:nvSpPr>
        <p:spPr>
          <a:xfrm>
            <a:off x="137725" y="1189625"/>
            <a:ext cx="23937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typedef struct Person {</a:t>
            </a: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    int id;</a:t>
            </a: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    PersonStatus status;</a:t>
            </a: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    int arrival_time;</a:t>
            </a: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    int entry_time;</a:t>
            </a: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    int exit_time;</a:t>
            </a: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    int booth_service_time;</a:t>
            </a: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    int booth_wait_time;</a:t>
            </a: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    int slide_wait_time;</a:t>
            </a: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    int slides_to_ride;</a:t>
            </a: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    int slides_ridden;</a:t>
            </a: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    struct Person* next; </a:t>
            </a: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 Person;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90" name="Google Shape;90;p17"/>
          <p:cNvSpPr txBox="1"/>
          <p:nvPr/>
        </p:nvSpPr>
        <p:spPr>
          <a:xfrm>
            <a:off x="3064400" y="1306575"/>
            <a:ext cx="28491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iw">
                <a:solidFill>
                  <a:schemeClr val="dk1"/>
                </a:solidFill>
              </a:rPr>
              <a:t>typedef struct Slide {</a:t>
            </a: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    int id;</a:t>
            </a: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    FacilityStatus status;</a:t>
            </a: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    int ride_time; </a:t>
            </a: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    int people_count; </a:t>
            </a: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    Person* queue;</a:t>
            </a: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    int ride_end_time;</a:t>
            </a: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 Slide;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91" name="Google Shape;91;p17"/>
          <p:cNvSpPr txBox="1"/>
          <p:nvPr/>
        </p:nvSpPr>
        <p:spPr>
          <a:xfrm>
            <a:off x="3814700" y="844875"/>
            <a:ext cx="1111200" cy="461700"/>
          </a:xfrm>
          <a:prstGeom prst="rect">
            <a:avLst/>
          </a:prstGeom>
          <a:noFill/>
          <a:ln>
            <a:noFill/>
          </a:ln>
        </p:spPr>
        <p:txBody>
          <a:bodyPr anchorCtr="0" anchor="t" bIns="91425" lIns="91425" spcFirstLastPara="1" rIns="91425" wrap="square" tIns="91425">
            <a:spAutoFit/>
          </a:bodyPr>
          <a:lstStyle/>
          <a:p>
            <a:pPr indent="0" lvl="0" marL="0" rtl="1" algn="r">
              <a:spcBef>
                <a:spcPts val="0"/>
              </a:spcBef>
              <a:spcAft>
                <a:spcPts val="0"/>
              </a:spcAft>
              <a:buNone/>
            </a:pPr>
            <a:r>
              <a:rPr lang="iw" sz="1800">
                <a:solidFill>
                  <a:schemeClr val="dk1"/>
                </a:solidFill>
              </a:rPr>
              <a:t>מגלשות:</a:t>
            </a:r>
            <a:endParaRPr sz="1800">
              <a:solidFill>
                <a:schemeClr val="dk1"/>
              </a:solidFill>
            </a:endParaRPr>
          </a:p>
        </p:txBody>
      </p:sp>
      <p:sp>
        <p:nvSpPr>
          <p:cNvPr id="92" name="Google Shape;92;p17"/>
          <p:cNvSpPr txBox="1"/>
          <p:nvPr/>
        </p:nvSpPr>
        <p:spPr>
          <a:xfrm>
            <a:off x="6348600" y="844875"/>
            <a:ext cx="1633200" cy="461700"/>
          </a:xfrm>
          <a:prstGeom prst="rect">
            <a:avLst/>
          </a:prstGeom>
          <a:noFill/>
          <a:ln>
            <a:noFill/>
          </a:ln>
        </p:spPr>
        <p:txBody>
          <a:bodyPr anchorCtr="0" anchor="t" bIns="91425" lIns="91425" spcFirstLastPara="1" rIns="91425" wrap="square" tIns="91425">
            <a:spAutoFit/>
          </a:bodyPr>
          <a:lstStyle/>
          <a:p>
            <a:pPr indent="0" lvl="0" marL="0" rtl="1" algn="r">
              <a:spcBef>
                <a:spcPts val="0"/>
              </a:spcBef>
              <a:spcAft>
                <a:spcPts val="0"/>
              </a:spcAft>
              <a:buNone/>
            </a:pPr>
            <a:r>
              <a:rPr lang="iw" sz="1800">
                <a:solidFill>
                  <a:schemeClr val="dk1"/>
                </a:solidFill>
              </a:rPr>
              <a:t>קופות:</a:t>
            </a:r>
            <a:endParaRPr sz="1800">
              <a:solidFill>
                <a:schemeClr val="dk1"/>
              </a:solidFill>
            </a:endParaRPr>
          </a:p>
        </p:txBody>
      </p:sp>
      <p:sp>
        <p:nvSpPr>
          <p:cNvPr id="93" name="Google Shape;93;p17"/>
          <p:cNvSpPr txBox="1"/>
          <p:nvPr/>
        </p:nvSpPr>
        <p:spPr>
          <a:xfrm>
            <a:off x="6022875" y="1189625"/>
            <a:ext cx="26634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iw">
                <a:solidFill>
                  <a:schemeClr val="dk1"/>
                </a:solidFill>
              </a:rPr>
              <a:t>typedef struct TicketBooth {</a:t>
            </a: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    int id;</a:t>
            </a: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    FacilityStatus status;</a:t>
            </a: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    int service_end_time;</a:t>
            </a: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    Person* queue;</a:t>
            </a: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 TicketBooth;</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cxnSp>
        <p:nvCxnSpPr>
          <p:cNvPr id="94" name="Google Shape;94;p17"/>
          <p:cNvCxnSpPr/>
          <p:nvPr/>
        </p:nvCxnSpPr>
        <p:spPr>
          <a:xfrm>
            <a:off x="5772025" y="766925"/>
            <a:ext cx="10800" cy="4315800"/>
          </a:xfrm>
          <a:prstGeom prst="straightConnector1">
            <a:avLst/>
          </a:prstGeom>
          <a:noFill/>
          <a:ln cap="flat" cmpd="sng" w="9525">
            <a:solidFill>
              <a:schemeClr val="dk2"/>
            </a:solidFill>
            <a:prstDash val="solid"/>
            <a:round/>
            <a:headEnd len="med" w="med" type="none"/>
            <a:tailEnd len="med" w="med" type="none"/>
          </a:ln>
        </p:spPr>
      </p:cxnSp>
      <p:cxnSp>
        <p:nvCxnSpPr>
          <p:cNvPr id="95" name="Google Shape;95;p17"/>
          <p:cNvCxnSpPr/>
          <p:nvPr/>
        </p:nvCxnSpPr>
        <p:spPr>
          <a:xfrm>
            <a:off x="2705500" y="841675"/>
            <a:ext cx="0" cy="4186500"/>
          </a:xfrm>
          <a:prstGeom prst="straightConnector1">
            <a:avLst/>
          </a:prstGeom>
          <a:noFill/>
          <a:ln cap="flat" cmpd="sng" w="9525">
            <a:solidFill>
              <a:schemeClr val="dk2"/>
            </a:solidFill>
            <a:prstDash val="solid"/>
            <a:round/>
            <a:headEnd len="med" w="med" type="none"/>
            <a:tailEnd len="med" w="med" type="none"/>
          </a:ln>
        </p:spPr>
      </p:cxnSp>
      <p:cxnSp>
        <p:nvCxnSpPr>
          <p:cNvPr id="96" name="Google Shape;96;p17"/>
          <p:cNvCxnSpPr/>
          <p:nvPr/>
        </p:nvCxnSpPr>
        <p:spPr>
          <a:xfrm>
            <a:off x="63075" y="1200500"/>
            <a:ext cx="9090900" cy="10800"/>
          </a:xfrm>
          <a:prstGeom prst="straightConnector1">
            <a:avLst/>
          </a:prstGeom>
          <a:noFill/>
          <a:ln cap="flat" cmpd="sng" w="9525">
            <a:solidFill>
              <a:schemeClr val="dk2"/>
            </a:solidFill>
            <a:prstDash val="solid"/>
            <a:round/>
            <a:headEnd len="med" w="med" type="none"/>
            <a:tailEnd len="med" w="med" type="none"/>
          </a:ln>
        </p:spPr>
      </p:cxnSp>
      <p:pic>
        <p:nvPicPr>
          <p:cNvPr id="97" name="Google Shape;97;p17"/>
          <p:cNvPicPr preferRelativeResize="0"/>
          <p:nvPr/>
        </p:nvPicPr>
        <p:blipFill>
          <a:blip r:embed="rId3">
            <a:alphaModFix amt="40000"/>
          </a:blip>
          <a:stretch>
            <a:fillRect/>
          </a:stretch>
        </p:blipFill>
        <p:spPr>
          <a:xfrm>
            <a:off x="0" y="0"/>
            <a:ext cx="9144000"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iw"/>
              <a:t>שימוש בSTRUCT</a:t>
            </a:r>
            <a:endParaRPr/>
          </a:p>
        </p:txBody>
      </p:sp>
      <p:sp>
        <p:nvSpPr>
          <p:cNvPr id="103" name="Google Shape;103;p18"/>
          <p:cNvSpPr txBox="1"/>
          <p:nvPr>
            <p:ph idx="1" type="body"/>
          </p:nvPr>
        </p:nvSpPr>
        <p:spPr>
          <a:xfrm>
            <a:off x="311700" y="1152475"/>
            <a:ext cx="3329100" cy="37017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770"/>
              <a:buNone/>
            </a:pPr>
            <a:r>
              <a:rPr lang="iw" sz="1400">
                <a:solidFill>
                  <a:schemeClr val="dk1"/>
                </a:solidFill>
              </a:rPr>
              <a:t>typedef struct OverallSummary {</a:t>
            </a:r>
            <a:endParaRPr sz="1400">
              <a:solidFill>
                <a:schemeClr val="dk1"/>
              </a:solidFill>
            </a:endParaRPr>
          </a:p>
          <a:p>
            <a:pPr indent="0" lvl="0" marL="0" rtl="0" algn="l">
              <a:lnSpc>
                <a:spcPct val="95000"/>
              </a:lnSpc>
              <a:spcBef>
                <a:spcPts val="1200"/>
              </a:spcBef>
              <a:spcAft>
                <a:spcPts val="0"/>
              </a:spcAft>
              <a:buSzPts val="770"/>
              <a:buNone/>
            </a:pPr>
            <a:r>
              <a:rPr lang="iw" sz="1400">
                <a:solidFill>
                  <a:schemeClr val="dk1"/>
                </a:solidFill>
              </a:rPr>
              <a:t>    int total_days;</a:t>
            </a:r>
            <a:endParaRPr sz="1400">
              <a:solidFill>
                <a:schemeClr val="dk1"/>
              </a:solidFill>
            </a:endParaRPr>
          </a:p>
          <a:p>
            <a:pPr indent="0" lvl="0" marL="0" rtl="0" algn="l">
              <a:lnSpc>
                <a:spcPct val="95000"/>
              </a:lnSpc>
              <a:spcBef>
                <a:spcPts val="1200"/>
              </a:spcBef>
              <a:spcAft>
                <a:spcPts val="0"/>
              </a:spcAft>
              <a:buSzPts val="770"/>
              <a:buNone/>
            </a:pPr>
            <a:r>
              <a:rPr lang="iw" sz="1400">
                <a:solidFill>
                  <a:schemeClr val="dk1"/>
                </a:solidFill>
              </a:rPr>
              <a:t>    int total_visitors;</a:t>
            </a:r>
            <a:endParaRPr sz="1400">
              <a:solidFill>
                <a:schemeClr val="dk1"/>
              </a:solidFill>
            </a:endParaRPr>
          </a:p>
          <a:p>
            <a:pPr indent="0" lvl="0" marL="0" rtl="0" algn="l">
              <a:lnSpc>
                <a:spcPct val="95000"/>
              </a:lnSpc>
              <a:spcBef>
                <a:spcPts val="1200"/>
              </a:spcBef>
              <a:spcAft>
                <a:spcPts val="0"/>
              </a:spcAft>
              <a:buSzPts val="770"/>
              <a:buNone/>
            </a:pPr>
            <a:r>
              <a:rPr lang="iw" sz="1400">
                <a:solidFill>
                  <a:schemeClr val="dk1"/>
                </a:solidFill>
              </a:rPr>
              <a:t>    double avg_park_time;</a:t>
            </a:r>
            <a:endParaRPr sz="1400">
              <a:solidFill>
                <a:schemeClr val="dk1"/>
              </a:solidFill>
            </a:endParaRPr>
          </a:p>
          <a:p>
            <a:pPr indent="0" lvl="0" marL="0" rtl="0" algn="l">
              <a:lnSpc>
                <a:spcPct val="95000"/>
              </a:lnSpc>
              <a:spcBef>
                <a:spcPts val="1200"/>
              </a:spcBef>
              <a:spcAft>
                <a:spcPts val="0"/>
              </a:spcAft>
              <a:buSzPts val="770"/>
              <a:buNone/>
            </a:pPr>
            <a:r>
              <a:rPr lang="iw" sz="1400">
                <a:solidFill>
                  <a:schemeClr val="dk1"/>
                </a:solidFill>
              </a:rPr>
              <a:t>    double avg_booth_service_time;</a:t>
            </a:r>
            <a:endParaRPr sz="1400">
              <a:solidFill>
                <a:schemeClr val="dk1"/>
              </a:solidFill>
            </a:endParaRPr>
          </a:p>
          <a:p>
            <a:pPr indent="0" lvl="0" marL="0" rtl="0" algn="l">
              <a:lnSpc>
                <a:spcPct val="95000"/>
              </a:lnSpc>
              <a:spcBef>
                <a:spcPts val="1200"/>
              </a:spcBef>
              <a:spcAft>
                <a:spcPts val="0"/>
              </a:spcAft>
              <a:buSzPts val="770"/>
              <a:buNone/>
            </a:pPr>
            <a:r>
              <a:rPr lang="iw" sz="1400">
                <a:solidFill>
                  <a:schemeClr val="dk1"/>
                </a:solidFill>
              </a:rPr>
              <a:t>    double avg_booth_wait_time;</a:t>
            </a:r>
            <a:endParaRPr sz="1400">
              <a:solidFill>
                <a:schemeClr val="dk1"/>
              </a:solidFill>
            </a:endParaRPr>
          </a:p>
          <a:p>
            <a:pPr indent="0" lvl="0" marL="0" rtl="0" algn="l">
              <a:lnSpc>
                <a:spcPct val="95000"/>
              </a:lnSpc>
              <a:spcBef>
                <a:spcPts val="1200"/>
              </a:spcBef>
              <a:spcAft>
                <a:spcPts val="0"/>
              </a:spcAft>
              <a:buSzPts val="770"/>
              <a:buNone/>
            </a:pPr>
            <a:r>
              <a:rPr lang="iw" sz="1400">
                <a:solidFill>
                  <a:schemeClr val="dk1"/>
                </a:solidFill>
              </a:rPr>
              <a:t>    double avg_slide_wait_time;</a:t>
            </a:r>
            <a:endParaRPr sz="1400">
              <a:solidFill>
                <a:schemeClr val="dk1"/>
              </a:solidFill>
            </a:endParaRPr>
          </a:p>
          <a:p>
            <a:pPr indent="0" lvl="0" marL="0" rtl="0" algn="l">
              <a:lnSpc>
                <a:spcPct val="95000"/>
              </a:lnSpc>
              <a:spcBef>
                <a:spcPts val="1200"/>
              </a:spcBef>
              <a:spcAft>
                <a:spcPts val="0"/>
              </a:spcAft>
              <a:buSzPts val="770"/>
              <a:buNone/>
            </a:pPr>
            <a:r>
              <a:rPr lang="iw" sz="1400">
                <a:solidFill>
                  <a:schemeClr val="dk1"/>
                </a:solidFill>
              </a:rPr>
              <a:t>    int busiest_slide_id;</a:t>
            </a:r>
            <a:endParaRPr sz="1400">
              <a:solidFill>
                <a:schemeClr val="dk1"/>
              </a:solidFill>
            </a:endParaRPr>
          </a:p>
          <a:p>
            <a:pPr indent="0" lvl="0" marL="0" rtl="0" algn="l">
              <a:lnSpc>
                <a:spcPct val="95000"/>
              </a:lnSpc>
              <a:spcBef>
                <a:spcPts val="1200"/>
              </a:spcBef>
              <a:spcAft>
                <a:spcPts val="0"/>
              </a:spcAft>
              <a:buSzPts val="770"/>
              <a:buNone/>
            </a:pPr>
            <a:r>
              <a:rPr lang="iw" sz="1400">
                <a:solidFill>
                  <a:schemeClr val="dk1"/>
                </a:solidFill>
              </a:rPr>
              <a:t>    int busiest_slide_rides;</a:t>
            </a:r>
            <a:endParaRPr sz="1400">
              <a:solidFill>
                <a:schemeClr val="dk1"/>
              </a:solidFill>
            </a:endParaRPr>
          </a:p>
          <a:p>
            <a:pPr indent="0" lvl="0" marL="0" rtl="0" algn="l">
              <a:lnSpc>
                <a:spcPct val="95000"/>
              </a:lnSpc>
              <a:spcBef>
                <a:spcPts val="1200"/>
              </a:spcBef>
              <a:spcAft>
                <a:spcPts val="1200"/>
              </a:spcAft>
              <a:buSzPts val="770"/>
              <a:buNone/>
            </a:pPr>
            <a:r>
              <a:rPr lang="iw" sz="1400">
                <a:solidFill>
                  <a:schemeClr val="dk1"/>
                </a:solidFill>
              </a:rPr>
              <a:t>} OverallSummary;</a:t>
            </a:r>
            <a:endParaRPr sz="1400">
              <a:solidFill>
                <a:schemeClr val="dk1"/>
              </a:solidFill>
            </a:endParaRPr>
          </a:p>
        </p:txBody>
      </p:sp>
      <p:sp>
        <p:nvSpPr>
          <p:cNvPr id="104" name="Google Shape;104;p18"/>
          <p:cNvSpPr txBox="1"/>
          <p:nvPr/>
        </p:nvSpPr>
        <p:spPr>
          <a:xfrm>
            <a:off x="4815200" y="1222250"/>
            <a:ext cx="35364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iw">
                <a:solidFill>
                  <a:schemeClr val="dk1"/>
                </a:solidFill>
              </a:rPr>
              <a:t>typedef struct DailySummary {</a:t>
            </a: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    int total_visitors;</a:t>
            </a: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    int avg_park_time;</a:t>
            </a: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    int avg_booth_service_time;</a:t>
            </a: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    int avg_booth_wait_time;</a:t>
            </a: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    int avg_slide_wait_time;</a:t>
            </a: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    int busiest_slide_id;</a:t>
            </a: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 DailySummary;</a:t>
            </a:r>
            <a:endParaRPr>
              <a:solidFill>
                <a:schemeClr val="dk1"/>
              </a:solidFill>
            </a:endParaRPr>
          </a:p>
        </p:txBody>
      </p:sp>
      <p:cxnSp>
        <p:nvCxnSpPr>
          <p:cNvPr id="105" name="Google Shape;105;p18"/>
          <p:cNvCxnSpPr/>
          <p:nvPr/>
        </p:nvCxnSpPr>
        <p:spPr>
          <a:xfrm>
            <a:off x="63075" y="1200500"/>
            <a:ext cx="9090900" cy="10800"/>
          </a:xfrm>
          <a:prstGeom prst="straightConnector1">
            <a:avLst/>
          </a:prstGeom>
          <a:noFill/>
          <a:ln cap="flat" cmpd="sng" w="9525">
            <a:solidFill>
              <a:schemeClr val="dk2"/>
            </a:solidFill>
            <a:prstDash val="solid"/>
            <a:round/>
            <a:headEnd len="med" w="med" type="none"/>
            <a:tailEnd len="med" w="med" type="none"/>
          </a:ln>
        </p:spPr>
      </p:cxnSp>
      <p:cxnSp>
        <p:nvCxnSpPr>
          <p:cNvPr id="106" name="Google Shape;106;p18"/>
          <p:cNvCxnSpPr/>
          <p:nvPr/>
        </p:nvCxnSpPr>
        <p:spPr>
          <a:xfrm>
            <a:off x="4222600" y="1200500"/>
            <a:ext cx="16200" cy="3912600"/>
          </a:xfrm>
          <a:prstGeom prst="straightConnector1">
            <a:avLst/>
          </a:prstGeom>
          <a:noFill/>
          <a:ln cap="flat" cmpd="sng" w="9525">
            <a:solidFill>
              <a:schemeClr val="dk2"/>
            </a:solidFill>
            <a:prstDash val="solid"/>
            <a:round/>
            <a:headEnd len="med" w="med" type="none"/>
            <a:tailEnd len="med" w="med" type="none"/>
          </a:ln>
        </p:spPr>
      </p:cxnSp>
      <p:pic>
        <p:nvPicPr>
          <p:cNvPr id="107" name="Google Shape;107;p18"/>
          <p:cNvPicPr preferRelativeResize="0"/>
          <p:nvPr/>
        </p:nvPicPr>
        <p:blipFill>
          <a:blip r:embed="rId3">
            <a:alphaModFix amt="40000"/>
          </a:blip>
          <a:stretch>
            <a:fillRect/>
          </a:stretch>
        </p:blipFill>
        <p:spPr>
          <a:xfrm>
            <a:off x="0" y="0"/>
            <a:ext cx="9144000"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iw"/>
              <a:t>הקצאת זיכרון דינאמי</a:t>
            </a:r>
            <a:endParaRPr/>
          </a:p>
        </p:txBody>
      </p:sp>
      <p:sp>
        <p:nvSpPr>
          <p:cNvPr id="113" name="Google Shape;113;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solidFill>
                  <a:schemeClr val="dk1"/>
                </a:solidFill>
              </a:rPr>
              <a:t>נשתמש בהקצאת זיכרון דינאמי כי אפשר </a:t>
            </a:r>
            <a:r>
              <a:rPr lang="iw">
                <a:solidFill>
                  <a:schemeClr val="dk1"/>
                </a:solidFill>
              </a:rPr>
              <a:t>לנהל זיכרון בצורה גמישה ויעילה, במיוחד כי לא יודעים מראש כמה אנשים יבקרו בפארק ובמידה ואני ארצה להרחיב את הפארק(להוסיף קופות או מגלשות) זה יהיה פשוט יותר.</a:t>
            </a:r>
            <a:endParaRPr>
              <a:solidFill>
                <a:schemeClr val="dk1"/>
              </a:solidFill>
            </a:endParaRPr>
          </a:p>
          <a:p>
            <a:pPr indent="0" lvl="0" marL="0" rtl="1" algn="r">
              <a:spcBef>
                <a:spcPts val="1200"/>
              </a:spcBef>
              <a:spcAft>
                <a:spcPts val="1200"/>
              </a:spcAft>
              <a:buNone/>
            </a:pPr>
            <a:r>
              <a:rPr lang="iw">
                <a:solidFill>
                  <a:schemeClr val="dk1"/>
                </a:solidFill>
              </a:rPr>
              <a:t>דוגמא: במקום להקצות זיכרון למספר המקסימלי האפשרי ( 100 אנשים) מקצים רק את הזיכרון שנדרש באמת לאותו יום. לדוגמא, אם באותו יום הגיעו 60 אנשים, התוכנית תקצה זיכרון בדיוק ל-60 אנשים ולא ל-100. וככה לא יהיה בזבוז זיכרון.</a:t>
            </a:r>
            <a:endParaRPr>
              <a:solidFill>
                <a:schemeClr val="dk1"/>
              </a:solidFill>
            </a:endParaRPr>
          </a:p>
        </p:txBody>
      </p:sp>
      <p:pic>
        <p:nvPicPr>
          <p:cNvPr id="114" name="Google Shape;114;p19"/>
          <p:cNvPicPr preferRelativeResize="0"/>
          <p:nvPr/>
        </p:nvPicPr>
        <p:blipFill>
          <a:blip r:embed="rId3">
            <a:alphaModFix amt="40000"/>
          </a:blip>
          <a:stretch>
            <a:fillRect/>
          </a:stretch>
        </p:blipFill>
        <p:spPr>
          <a:xfrm>
            <a:off x="0" y="0"/>
            <a:ext cx="9144000"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iw"/>
              <a:t>שמירה וטעינה</a:t>
            </a:r>
            <a:endParaRPr/>
          </a:p>
        </p:txBody>
      </p:sp>
      <p:sp>
        <p:nvSpPr>
          <p:cNvPr id="120" name="Google Shape;120;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1" algn="r">
              <a:spcBef>
                <a:spcPts val="0"/>
              </a:spcBef>
              <a:spcAft>
                <a:spcPts val="1200"/>
              </a:spcAft>
              <a:buNone/>
            </a:pPr>
            <a:r>
              <a:rPr lang="iw">
                <a:solidFill>
                  <a:schemeClr val="dk1"/>
                </a:solidFill>
              </a:rPr>
              <a:t>השמירה והטעינה מקובץ מאפשרות לשמור את היסטוריית הסימולציות. גם לאחר סגירת התוכנית, הנתונים לא נמחקים, וניתן להשתמש בהם כדי ליצור סיכום מצטבר של כל ימי הסימולציה.</a:t>
            </a:r>
            <a:endParaRPr>
              <a:solidFill>
                <a:schemeClr val="dk1"/>
              </a:solidFill>
            </a:endParaRPr>
          </a:p>
        </p:txBody>
      </p:sp>
      <p:pic>
        <p:nvPicPr>
          <p:cNvPr id="121" name="Google Shape;121;p20"/>
          <p:cNvPicPr preferRelativeResize="0"/>
          <p:nvPr/>
        </p:nvPicPr>
        <p:blipFill>
          <a:blip r:embed="rId3">
            <a:alphaModFix amt="30000"/>
          </a:blip>
          <a:stretch>
            <a:fillRect/>
          </a:stretch>
        </p:blipFill>
        <p:spPr>
          <a:xfrm>
            <a:off x="0" y="0"/>
            <a:ext cx="9144000"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iw"/>
              <a:t>אלגוריתמים של חיפוש ומיון</a:t>
            </a:r>
            <a:endParaRPr/>
          </a:p>
        </p:txBody>
      </p:sp>
      <p:sp>
        <p:nvSpPr>
          <p:cNvPr id="127" name="Google Shape;127;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u="sng">
                <a:solidFill>
                  <a:schemeClr val="dk1"/>
                </a:solidFill>
              </a:rPr>
              <a:t>חיפוש:</a:t>
            </a:r>
            <a:endParaRPr u="sng">
              <a:solidFill>
                <a:schemeClr val="dk1"/>
              </a:solidFill>
            </a:endParaRPr>
          </a:p>
          <a:p>
            <a:pPr indent="0" lvl="0" marL="0" rtl="1" algn="r">
              <a:spcBef>
                <a:spcPts val="1200"/>
              </a:spcBef>
              <a:spcAft>
                <a:spcPts val="0"/>
              </a:spcAft>
              <a:buNone/>
            </a:pPr>
            <a:r>
              <a:rPr lang="iw">
                <a:solidFill>
                  <a:schemeClr val="dk1"/>
                </a:solidFill>
              </a:rPr>
              <a:t>חיפוש של קופה פנויה: כאשר לקוח מגיע לפארק הוא צריך למצוא קופה פנויה כדי לקנות כרטיס. </a:t>
            </a:r>
            <a:endParaRPr>
              <a:solidFill>
                <a:schemeClr val="dk1"/>
              </a:solidFill>
            </a:endParaRPr>
          </a:p>
          <a:p>
            <a:pPr indent="0" lvl="0" marL="0" rtl="1" algn="r">
              <a:spcBef>
                <a:spcPts val="1200"/>
              </a:spcBef>
              <a:spcAft>
                <a:spcPts val="0"/>
              </a:spcAft>
              <a:buNone/>
            </a:pPr>
            <a:r>
              <a:rPr lang="iw" u="sng">
                <a:solidFill>
                  <a:schemeClr val="dk1"/>
                </a:solidFill>
              </a:rPr>
              <a:t>מיון:</a:t>
            </a:r>
            <a:endParaRPr>
              <a:solidFill>
                <a:schemeClr val="dk1"/>
              </a:solidFill>
            </a:endParaRPr>
          </a:p>
          <a:p>
            <a:pPr indent="0" lvl="0" marL="0" rtl="1" algn="r">
              <a:spcBef>
                <a:spcPts val="1200"/>
              </a:spcBef>
              <a:spcAft>
                <a:spcPts val="1200"/>
              </a:spcAft>
              <a:buNone/>
            </a:pPr>
            <a:r>
              <a:rPr lang="iw">
                <a:solidFill>
                  <a:schemeClr val="dk1"/>
                </a:solidFill>
              </a:rPr>
              <a:t>מיון מגלשות לפי פופולריות: אפשר למיין את המגלשות השונות בפארק לפי כמות האנשים שהשתמשו בהן באותו יום. ככה נדע איזה מגלשה פופולארית. </a:t>
            </a:r>
            <a:endParaRPr>
              <a:solidFill>
                <a:schemeClr val="dk1"/>
              </a:solidFill>
            </a:endParaRPr>
          </a:p>
        </p:txBody>
      </p:sp>
      <p:pic>
        <p:nvPicPr>
          <p:cNvPr id="128" name="Google Shape;128;p21"/>
          <p:cNvPicPr preferRelativeResize="0"/>
          <p:nvPr/>
        </p:nvPicPr>
        <p:blipFill>
          <a:blip r:embed="rId3">
            <a:alphaModFix amt="40000"/>
          </a:blip>
          <a:stretch>
            <a:fillRect/>
          </a:stretch>
        </p:blipFill>
        <p:spPr>
          <a:xfrm>
            <a:off x="28000" y="0"/>
            <a:ext cx="9088000"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iw"/>
              <a:t>הנחיות קדם-מעבד</a:t>
            </a:r>
            <a:endParaRPr/>
          </a:p>
        </p:txBody>
      </p:sp>
      <p:sp>
        <p:nvSpPr>
          <p:cNvPr id="134" name="Google Shape;134;p22"/>
          <p:cNvSpPr txBox="1"/>
          <p:nvPr>
            <p:ph idx="1" type="body"/>
          </p:nvPr>
        </p:nvSpPr>
        <p:spPr>
          <a:xfrm>
            <a:off x="311700" y="1152475"/>
            <a:ext cx="2676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iw" sz="1400">
                <a:solidFill>
                  <a:schemeClr val="dk1"/>
                </a:solidFill>
              </a:rPr>
              <a:t>#include &lt;stdio.h&gt;</a:t>
            </a:r>
            <a:endParaRPr sz="1400">
              <a:solidFill>
                <a:schemeClr val="dk1"/>
              </a:solidFill>
            </a:endParaRPr>
          </a:p>
          <a:p>
            <a:pPr indent="0" lvl="0" marL="0" rtl="0" algn="l">
              <a:spcBef>
                <a:spcPts val="1200"/>
              </a:spcBef>
              <a:spcAft>
                <a:spcPts val="0"/>
              </a:spcAft>
              <a:buClr>
                <a:schemeClr val="dk1"/>
              </a:buClr>
              <a:buSzPts val="1100"/>
              <a:buFont typeface="Arial"/>
              <a:buNone/>
            </a:pPr>
            <a:r>
              <a:rPr lang="iw" sz="1400">
                <a:solidFill>
                  <a:schemeClr val="dk1"/>
                </a:solidFill>
              </a:rPr>
              <a:t>#include &lt;stdlib.h&gt;</a:t>
            </a:r>
            <a:endParaRPr sz="1400">
              <a:solidFill>
                <a:schemeClr val="dk1"/>
              </a:solidFill>
            </a:endParaRPr>
          </a:p>
          <a:p>
            <a:pPr indent="0" lvl="0" marL="0" rtl="0" algn="l">
              <a:spcBef>
                <a:spcPts val="1200"/>
              </a:spcBef>
              <a:spcAft>
                <a:spcPts val="0"/>
              </a:spcAft>
              <a:buClr>
                <a:schemeClr val="dk1"/>
              </a:buClr>
              <a:buSzPts val="1100"/>
              <a:buFont typeface="Arial"/>
              <a:buNone/>
            </a:pPr>
            <a:r>
              <a:rPr lang="iw" sz="1400">
                <a:solidFill>
                  <a:schemeClr val="dk1"/>
                </a:solidFill>
              </a:rPr>
              <a:t>#include &lt;time.h&gt;</a:t>
            </a:r>
            <a:endParaRPr sz="1400">
              <a:solidFill>
                <a:schemeClr val="dk1"/>
              </a:solidFill>
            </a:endParaRPr>
          </a:p>
          <a:p>
            <a:pPr indent="0" lvl="0" marL="0" rtl="0" algn="l">
              <a:spcBef>
                <a:spcPts val="1200"/>
              </a:spcBef>
              <a:spcAft>
                <a:spcPts val="0"/>
              </a:spcAft>
              <a:buClr>
                <a:schemeClr val="dk1"/>
              </a:buClr>
              <a:buSzPts val="1100"/>
              <a:buFont typeface="Arial"/>
              <a:buNone/>
            </a:pPr>
            <a:r>
              <a:rPr lang="iw" sz="1400">
                <a:solidFill>
                  <a:schemeClr val="dk1"/>
                </a:solidFill>
              </a:rPr>
              <a:t>#include &lt;string.h&gt;</a:t>
            </a:r>
            <a:endParaRPr sz="1400">
              <a:solidFill>
                <a:schemeClr val="dk1"/>
              </a:solidFill>
            </a:endParaRPr>
          </a:p>
          <a:p>
            <a:pPr indent="0" lvl="0" marL="0" rtl="0" algn="l">
              <a:spcBef>
                <a:spcPts val="1200"/>
              </a:spcBef>
              <a:spcAft>
                <a:spcPts val="0"/>
              </a:spcAft>
              <a:buClr>
                <a:schemeClr val="dk1"/>
              </a:buClr>
              <a:buSzPts val="1100"/>
              <a:buFont typeface="Arial"/>
              <a:buNone/>
            </a:pPr>
            <a:r>
              <a:t/>
            </a:r>
            <a:endParaRPr sz="1400">
              <a:solidFill>
                <a:schemeClr val="dk1"/>
              </a:solidFill>
            </a:endParaRPr>
          </a:p>
          <a:p>
            <a:pPr indent="0" lvl="0" marL="0" rtl="0" algn="l">
              <a:spcBef>
                <a:spcPts val="1200"/>
              </a:spcBef>
              <a:spcAft>
                <a:spcPts val="0"/>
              </a:spcAft>
              <a:buClr>
                <a:schemeClr val="dk1"/>
              </a:buClr>
              <a:buSzPts val="1100"/>
              <a:buFont typeface="Arial"/>
              <a:buNone/>
            </a:pPr>
            <a:r>
              <a:t/>
            </a:r>
            <a:endParaRPr sz="1400">
              <a:solidFill>
                <a:schemeClr val="dk1"/>
              </a:solidFill>
            </a:endParaRPr>
          </a:p>
          <a:p>
            <a:pPr indent="0" lvl="0" marL="0" rtl="0" algn="l">
              <a:spcBef>
                <a:spcPts val="1200"/>
              </a:spcBef>
              <a:spcAft>
                <a:spcPts val="1200"/>
              </a:spcAft>
              <a:buNone/>
            </a:pPr>
            <a:r>
              <a:t/>
            </a:r>
            <a:endParaRPr sz="1400">
              <a:solidFill>
                <a:schemeClr val="dk1"/>
              </a:solidFill>
            </a:endParaRPr>
          </a:p>
        </p:txBody>
      </p:sp>
      <p:sp>
        <p:nvSpPr>
          <p:cNvPr id="135" name="Google Shape;135;p22"/>
          <p:cNvSpPr txBox="1"/>
          <p:nvPr/>
        </p:nvSpPr>
        <p:spPr>
          <a:xfrm>
            <a:off x="3162250" y="1254475"/>
            <a:ext cx="5308800" cy="321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iw">
                <a:solidFill>
                  <a:schemeClr val="dk1"/>
                </a:solidFill>
              </a:rPr>
              <a:t>#define PARK_OPEN_TIME_MINUTES (8 * 60)</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w">
                <a:solidFill>
                  <a:schemeClr val="dk1"/>
                </a:solidFill>
              </a:rPr>
              <a:t>#define PARK_CLOSE_TIME_MINUTES (17 * 60)</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w">
                <a:solidFill>
                  <a:schemeClr val="dk1"/>
                </a:solidFill>
              </a:rPr>
              <a:t>#define NUM_SLIDES 3</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w">
                <a:solidFill>
                  <a:schemeClr val="dk1"/>
                </a:solidFill>
              </a:rPr>
              <a:t>#define NUM_BOOTHS 3</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w">
                <a:solidFill>
                  <a:schemeClr val="dk1"/>
                </a:solidFill>
              </a:rPr>
              <a:t>#define MIN_VISITORS 100</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w">
                <a:solidFill>
                  <a:schemeClr val="dk1"/>
                </a:solidFill>
              </a:rPr>
              <a:t>#define MAX_VISITORS 150</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w">
                <a:solidFill>
                  <a:schemeClr val="dk1"/>
                </a:solidFill>
              </a:rPr>
              <a:t>#define DAILY_SUMMARY_FILE "daily_summaries.bin"</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iw">
                <a:solidFill>
                  <a:schemeClr val="dk1"/>
                </a:solidFill>
              </a:rPr>
              <a:t>#define VISITORS_ARRIVAL_END_TIME (15 * 60) </a:t>
            </a:r>
            <a:endParaRPr>
              <a:solidFill>
                <a:schemeClr val="dk1"/>
              </a:solidFill>
            </a:endParaRPr>
          </a:p>
        </p:txBody>
      </p:sp>
      <p:pic>
        <p:nvPicPr>
          <p:cNvPr id="136" name="Google Shape;136;p22"/>
          <p:cNvPicPr preferRelativeResize="0"/>
          <p:nvPr/>
        </p:nvPicPr>
        <p:blipFill>
          <a:blip r:embed="rId3">
            <a:alphaModFix amt="40000"/>
          </a:blip>
          <a:stretch>
            <a:fillRect/>
          </a:stretch>
        </p:blipFill>
        <p:spPr>
          <a:xfrm>
            <a:off x="0" y="0"/>
            <a:ext cx="9144000" cy="5143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iw"/>
              <a:t>רשימה מקושרת</a:t>
            </a:r>
            <a:endParaRPr/>
          </a:p>
        </p:txBody>
      </p:sp>
      <p:sp>
        <p:nvSpPr>
          <p:cNvPr id="142" name="Google Shape;142;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1" algn="r">
              <a:spcBef>
                <a:spcPts val="0"/>
              </a:spcBef>
              <a:spcAft>
                <a:spcPts val="1200"/>
              </a:spcAft>
              <a:buNone/>
            </a:pPr>
            <a:r>
              <a:rPr lang="iw" sz="1600">
                <a:solidFill>
                  <a:schemeClr val="dk1"/>
                </a:solidFill>
              </a:rPr>
              <a:t>משתמשים ברשימה מקושרת בתורים של המגלשות והקופות. לכל מבקר יש מצביע שמצביע למבקר הבא בתור.</a:t>
            </a:r>
            <a:endParaRPr sz="1600">
              <a:solidFill>
                <a:schemeClr val="dk1"/>
              </a:solidFill>
            </a:endParaRPr>
          </a:p>
        </p:txBody>
      </p:sp>
      <p:pic>
        <p:nvPicPr>
          <p:cNvPr id="143" name="Google Shape;143;p23"/>
          <p:cNvPicPr preferRelativeResize="0"/>
          <p:nvPr/>
        </p:nvPicPr>
        <p:blipFill>
          <a:blip r:embed="rId3">
            <a:alphaModFix amt="40000"/>
          </a:blip>
          <a:stretch>
            <a:fillRect/>
          </a:stretch>
        </p:blipFill>
        <p:spPr>
          <a:xfrm>
            <a:off x="0" y="0"/>
            <a:ext cx="9144000" cy="5143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iw"/>
              <a:t>תיאור פונקציות עיקריות</a:t>
            </a:r>
            <a:endParaRPr/>
          </a:p>
        </p:txBody>
      </p:sp>
      <p:sp>
        <p:nvSpPr>
          <p:cNvPr id="149" name="Google Shape;149;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w">
                <a:solidFill>
                  <a:schemeClr val="dk1"/>
                </a:solidFill>
              </a:rPr>
              <a:t>void runSimulation()</a:t>
            </a:r>
            <a:endParaRPr>
              <a:solidFill>
                <a:schemeClr val="dk1"/>
              </a:solidFill>
            </a:endParaRPr>
          </a:p>
          <a:p>
            <a:pPr indent="0" lvl="0" marL="0" rtl="1" algn="r">
              <a:spcBef>
                <a:spcPts val="1200"/>
              </a:spcBef>
              <a:spcAft>
                <a:spcPts val="0"/>
              </a:spcAft>
              <a:buNone/>
            </a:pPr>
            <a:r>
              <a:rPr lang="iw">
                <a:solidFill>
                  <a:schemeClr val="dk1"/>
                </a:solidFill>
              </a:rPr>
              <a:t>פונקציה שמריצה </a:t>
            </a:r>
            <a:r>
              <a:rPr lang="iw">
                <a:solidFill>
                  <a:schemeClr val="dk1"/>
                </a:solidFill>
              </a:rPr>
              <a:t>את</a:t>
            </a:r>
            <a:r>
              <a:rPr lang="iw">
                <a:solidFill>
                  <a:schemeClr val="dk1"/>
                </a:solidFill>
              </a:rPr>
              <a:t> הסימולציה</a:t>
            </a:r>
            <a:endParaRPr>
              <a:solidFill>
                <a:schemeClr val="dk1"/>
              </a:solidFill>
            </a:endParaRPr>
          </a:p>
          <a:p>
            <a:pPr indent="0" lvl="0" marL="0" rtl="0" algn="l">
              <a:spcBef>
                <a:spcPts val="1200"/>
              </a:spcBef>
              <a:spcAft>
                <a:spcPts val="0"/>
              </a:spcAft>
              <a:buNone/>
            </a:pPr>
            <a:r>
              <a:rPr lang="iw">
                <a:solidFill>
                  <a:schemeClr val="dk1"/>
                </a:solidFill>
              </a:rPr>
              <a:t>void saveDailySummary(DailySummary* summary);</a:t>
            </a:r>
            <a:endParaRPr>
              <a:solidFill>
                <a:schemeClr val="dk1"/>
              </a:solidFill>
            </a:endParaRPr>
          </a:p>
          <a:p>
            <a:pPr indent="0" lvl="0" marL="0" rtl="1" algn="r">
              <a:spcBef>
                <a:spcPts val="1200"/>
              </a:spcBef>
              <a:spcAft>
                <a:spcPts val="0"/>
              </a:spcAft>
              <a:buNone/>
            </a:pPr>
            <a:r>
              <a:rPr lang="iw">
                <a:solidFill>
                  <a:schemeClr val="dk1"/>
                </a:solidFill>
              </a:rPr>
              <a:t>פונקציה ששומרת את כל המידע של הסומולציה</a:t>
            </a:r>
            <a:endParaRPr>
              <a:solidFill>
                <a:schemeClr val="dk1"/>
              </a:solidFill>
            </a:endParaRPr>
          </a:p>
          <a:p>
            <a:pPr indent="0" lvl="0" marL="0" rtl="0" algn="l">
              <a:spcBef>
                <a:spcPts val="1200"/>
              </a:spcBef>
              <a:spcAft>
                <a:spcPts val="0"/>
              </a:spcAft>
              <a:buNone/>
            </a:pPr>
            <a:r>
              <a:rPr lang="iw">
                <a:solidFill>
                  <a:schemeClr val="dk1"/>
                </a:solidFill>
              </a:rPr>
              <a:t>void loadOverallSummary(OverallSummary* summary);</a:t>
            </a:r>
            <a:endParaRPr>
              <a:solidFill>
                <a:schemeClr val="dk1"/>
              </a:solidFill>
            </a:endParaRPr>
          </a:p>
          <a:p>
            <a:pPr indent="0" lvl="0" marL="0" rtl="1" algn="r">
              <a:spcBef>
                <a:spcPts val="1200"/>
              </a:spcBef>
              <a:spcAft>
                <a:spcPts val="1200"/>
              </a:spcAft>
              <a:buNone/>
            </a:pPr>
            <a:r>
              <a:rPr lang="iw">
                <a:solidFill>
                  <a:schemeClr val="dk1"/>
                </a:solidFill>
              </a:rPr>
              <a:t> פונקציה שטוענת את נתוני הסימולציה מהקובץ</a:t>
            </a:r>
            <a:endParaRPr>
              <a:solidFill>
                <a:schemeClr val="dk1"/>
              </a:solidFill>
            </a:endParaRPr>
          </a:p>
        </p:txBody>
      </p:sp>
      <p:pic>
        <p:nvPicPr>
          <p:cNvPr id="150" name="Google Shape;150;p24"/>
          <p:cNvPicPr preferRelativeResize="0"/>
          <p:nvPr/>
        </p:nvPicPr>
        <p:blipFill>
          <a:blip r:embed="rId3">
            <a:alphaModFix amt="40000"/>
          </a:blip>
          <a:stretch>
            <a:fillRect/>
          </a:stretch>
        </p:blipFill>
        <p:spPr>
          <a:xfrm>
            <a:off x="0" y="0"/>
            <a:ext cx="9144000" cy="5143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iw"/>
              <a:t>תיאור פונקציות עיקריות </a:t>
            </a:r>
            <a:endParaRPr/>
          </a:p>
        </p:txBody>
      </p:sp>
      <p:sp>
        <p:nvSpPr>
          <p:cNvPr id="156" name="Google Shape;156;p25"/>
          <p:cNvSpPr txBox="1"/>
          <p:nvPr>
            <p:ph idx="1" type="body"/>
          </p:nvPr>
        </p:nvSpPr>
        <p:spPr>
          <a:xfrm>
            <a:off x="311700" y="1152475"/>
            <a:ext cx="87225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w" sz="1400">
                <a:solidFill>
                  <a:schemeClr val="dk1"/>
                </a:solidFill>
              </a:rPr>
              <a:t>void updateFacilityStatus(int current_time, TicketBooth* booths, Slide* slides);</a:t>
            </a:r>
            <a:endParaRPr sz="1400">
              <a:solidFill>
                <a:schemeClr val="dk1"/>
              </a:solidFill>
            </a:endParaRPr>
          </a:p>
          <a:p>
            <a:pPr indent="0" lvl="0" marL="0" rtl="1" algn="r">
              <a:spcBef>
                <a:spcPts val="1200"/>
              </a:spcBef>
              <a:spcAft>
                <a:spcPts val="0"/>
              </a:spcAft>
              <a:buClr>
                <a:schemeClr val="dk1"/>
              </a:buClr>
              <a:buSzPts val="1100"/>
              <a:buFont typeface="Arial"/>
              <a:buNone/>
            </a:pPr>
            <a:r>
              <a:rPr lang="iw" sz="1400">
                <a:solidFill>
                  <a:schemeClr val="dk1"/>
                </a:solidFill>
              </a:rPr>
              <a:t>הפונקציה הזו אחראית לעדכן את המצב של המתקנים בפארק (קופות ומגלשות). היא בודקת אם שירות מסוים הסתיים, ומשנה את סטטוס המתקן בהתאם.</a:t>
            </a:r>
            <a:endParaRPr sz="1400">
              <a:solidFill>
                <a:schemeClr val="dk1"/>
              </a:solidFill>
            </a:endParaRPr>
          </a:p>
          <a:p>
            <a:pPr indent="0" lvl="0" marL="0" rtl="0" algn="l">
              <a:spcBef>
                <a:spcPts val="1200"/>
              </a:spcBef>
              <a:spcAft>
                <a:spcPts val="0"/>
              </a:spcAft>
              <a:buClr>
                <a:schemeClr val="dk1"/>
              </a:buClr>
              <a:buSzPts val="1100"/>
              <a:buFont typeface="Arial"/>
              <a:buNone/>
            </a:pPr>
            <a:r>
              <a:rPr lang="iw" sz="1400">
                <a:solidFill>
                  <a:schemeClr val="dk1"/>
                </a:solidFill>
              </a:rPr>
              <a:t>void manageVisitors(Person* people, int num_people, TicketBooth* booths, Slide* slides, int current_time);</a:t>
            </a:r>
            <a:endParaRPr sz="1400">
              <a:solidFill>
                <a:schemeClr val="dk1"/>
              </a:solidFill>
            </a:endParaRPr>
          </a:p>
          <a:p>
            <a:pPr indent="0" lvl="0" marL="0" rtl="1" algn="r">
              <a:spcBef>
                <a:spcPts val="1200"/>
              </a:spcBef>
              <a:spcAft>
                <a:spcPts val="1200"/>
              </a:spcAft>
              <a:buNone/>
            </a:pPr>
            <a:r>
              <a:rPr lang="iw" sz="1400">
                <a:solidFill>
                  <a:schemeClr val="dk1"/>
                </a:solidFill>
              </a:rPr>
              <a:t>הפונקציה מחלקת את המבקרים בין מתקנים פנויים ודואגת שהם יתקדמו בתהליך הביקור שלהם.</a:t>
            </a:r>
            <a:endParaRPr sz="1400">
              <a:solidFill>
                <a:schemeClr val="dk1"/>
              </a:solidFill>
            </a:endParaRPr>
          </a:p>
        </p:txBody>
      </p:sp>
      <p:pic>
        <p:nvPicPr>
          <p:cNvPr id="157" name="Google Shape;157;p25"/>
          <p:cNvPicPr preferRelativeResize="0"/>
          <p:nvPr/>
        </p:nvPicPr>
        <p:blipFill>
          <a:blip r:embed="rId3">
            <a:alphaModFix amt="40000"/>
          </a:blip>
          <a:stretch>
            <a:fillRect/>
          </a:stretch>
        </p:blipFill>
        <p:spPr>
          <a:xfrm>
            <a:off x="0" y="0"/>
            <a:ext cx="9144000" cy="5143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1" algn="r">
              <a:spcBef>
                <a:spcPts val="0"/>
              </a:spcBef>
              <a:spcAft>
                <a:spcPts val="0"/>
              </a:spcAft>
              <a:buClr>
                <a:schemeClr val="dk1"/>
              </a:buClr>
              <a:buSzPts val="1800"/>
              <a:buAutoNum type="arabicPeriod"/>
            </a:pPr>
            <a:r>
              <a:rPr lang="iw">
                <a:solidFill>
                  <a:schemeClr val="dk1"/>
                </a:solidFill>
              </a:rPr>
              <a:t>זמן פעולה של הסימולציה(כמה ימים הסימולציה פעלה)</a:t>
            </a:r>
            <a:endParaRPr>
              <a:solidFill>
                <a:schemeClr val="dk1"/>
              </a:solidFill>
            </a:endParaRPr>
          </a:p>
          <a:p>
            <a:pPr indent="-342900" lvl="0" marL="457200" rtl="1" algn="r">
              <a:spcBef>
                <a:spcPts val="0"/>
              </a:spcBef>
              <a:spcAft>
                <a:spcPts val="0"/>
              </a:spcAft>
              <a:buClr>
                <a:schemeClr val="dk1"/>
              </a:buClr>
              <a:buSzPts val="1800"/>
              <a:buAutoNum type="arabicPeriod"/>
            </a:pPr>
            <a:r>
              <a:rPr lang="iw">
                <a:solidFill>
                  <a:schemeClr val="dk1"/>
                </a:solidFill>
              </a:rPr>
              <a:t>ממוצע זמן שירות בקופות</a:t>
            </a:r>
            <a:endParaRPr>
              <a:solidFill>
                <a:schemeClr val="dk1"/>
              </a:solidFill>
            </a:endParaRPr>
          </a:p>
          <a:p>
            <a:pPr indent="-342900" lvl="0" marL="457200" rtl="1" algn="r">
              <a:spcBef>
                <a:spcPts val="0"/>
              </a:spcBef>
              <a:spcAft>
                <a:spcPts val="0"/>
              </a:spcAft>
              <a:buClr>
                <a:schemeClr val="dk1"/>
              </a:buClr>
              <a:buSzPts val="1800"/>
              <a:buAutoNum type="arabicPeriod"/>
            </a:pPr>
            <a:r>
              <a:rPr lang="iw">
                <a:solidFill>
                  <a:schemeClr val="dk1"/>
                </a:solidFill>
              </a:rPr>
              <a:t>ממוצע של כל כמה זמן מחכים בתור במגלשות</a:t>
            </a:r>
            <a:endParaRPr>
              <a:solidFill>
                <a:schemeClr val="dk1"/>
              </a:solidFill>
            </a:endParaRPr>
          </a:p>
          <a:p>
            <a:pPr indent="-342900" lvl="0" marL="457200" rtl="1" algn="r">
              <a:spcBef>
                <a:spcPts val="0"/>
              </a:spcBef>
              <a:spcAft>
                <a:spcPts val="0"/>
              </a:spcAft>
              <a:buClr>
                <a:schemeClr val="dk1"/>
              </a:buClr>
              <a:buSzPts val="1800"/>
              <a:buAutoNum type="arabicPeriod"/>
            </a:pPr>
            <a:r>
              <a:rPr lang="iw">
                <a:solidFill>
                  <a:schemeClr val="dk1"/>
                </a:solidFill>
              </a:rPr>
              <a:t>ממוצע של </a:t>
            </a:r>
            <a:r>
              <a:rPr lang="iw">
                <a:solidFill>
                  <a:schemeClr val="dk1"/>
                </a:solidFill>
              </a:rPr>
              <a:t>כל כמה זמן מחכים בתור בקופות</a:t>
            </a:r>
            <a:endParaRPr>
              <a:solidFill>
                <a:schemeClr val="dk1"/>
              </a:solidFill>
            </a:endParaRPr>
          </a:p>
          <a:p>
            <a:pPr indent="-342900" lvl="0" marL="457200" rtl="1" algn="r">
              <a:spcBef>
                <a:spcPts val="0"/>
              </a:spcBef>
              <a:spcAft>
                <a:spcPts val="0"/>
              </a:spcAft>
              <a:buClr>
                <a:schemeClr val="dk1"/>
              </a:buClr>
              <a:buSzPts val="1800"/>
              <a:buAutoNum type="arabicPeriod"/>
            </a:pPr>
            <a:r>
              <a:rPr lang="iw">
                <a:solidFill>
                  <a:schemeClr val="dk1"/>
                </a:solidFill>
              </a:rPr>
              <a:t>זמן ממוצע של שהייה בפארק</a:t>
            </a:r>
            <a:endParaRPr>
              <a:solidFill>
                <a:schemeClr val="dk1"/>
              </a:solidFill>
            </a:endParaRPr>
          </a:p>
          <a:p>
            <a:pPr indent="-342900" lvl="0" marL="457200" rtl="1" algn="r">
              <a:spcBef>
                <a:spcPts val="0"/>
              </a:spcBef>
              <a:spcAft>
                <a:spcPts val="0"/>
              </a:spcAft>
              <a:buClr>
                <a:schemeClr val="dk1"/>
              </a:buClr>
              <a:buSzPts val="1800"/>
              <a:buAutoNum type="arabicPeriod"/>
            </a:pPr>
            <a:r>
              <a:rPr lang="iw">
                <a:solidFill>
                  <a:schemeClr val="dk1"/>
                </a:solidFill>
              </a:rPr>
              <a:t>כמות אנשים שבאו בסך כל הימים של הסימולציה</a:t>
            </a:r>
            <a:endParaRPr>
              <a:solidFill>
                <a:schemeClr val="dk1"/>
              </a:solidFill>
            </a:endParaRPr>
          </a:p>
          <a:p>
            <a:pPr indent="-342900" lvl="0" marL="457200" rtl="1" algn="r">
              <a:spcBef>
                <a:spcPts val="0"/>
              </a:spcBef>
              <a:spcAft>
                <a:spcPts val="0"/>
              </a:spcAft>
              <a:buClr>
                <a:schemeClr val="dk1"/>
              </a:buClr>
              <a:buSzPts val="1800"/>
              <a:buAutoNum type="arabicPeriod"/>
            </a:pPr>
            <a:r>
              <a:rPr lang="iw">
                <a:solidFill>
                  <a:schemeClr val="dk1"/>
                </a:solidFill>
              </a:rPr>
              <a:t>מה המגלשה הכי פופולארית וכמה ימים מסך זמן הסימולציה היא הייתה הכי מתבקשת</a:t>
            </a:r>
            <a:endParaRPr>
              <a:solidFill>
                <a:schemeClr val="dk1"/>
              </a:solidFill>
            </a:endParaRPr>
          </a:p>
        </p:txBody>
      </p:sp>
      <p:sp>
        <p:nvSpPr>
          <p:cNvPr id="163" name="Google Shape;163;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iw"/>
              <a:t>נתונים שנקבל מהסימולציה</a:t>
            </a:r>
            <a:endParaRPr/>
          </a:p>
        </p:txBody>
      </p:sp>
      <p:pic>
        <p:nvPicPr>
          <p:cNvPr id="164" name="Google Shape;164;p26"/>
          <p:cNvPicPr preferRelativeResize="0"/>
          <p:nvPr/>
        </p:nvPicPr>
        <p:blipFill>
          <a:blip r:embed="rId3">
            <a:alphaModFix amt="40000"/>
          </a:blip>
          <a:stretch>
            <a:fillRect/>
          </a:stretch>
        </p:blipFill>
        <p:spPr>
          <a:xfrm>
            <a:off x="0" y="0"/>
            <a:ext cx="9144000" cy="5143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Clr>
                <a:schemeClr val="dk1"/>
              </a:buClr>
              <a:buSzPct val="39285"/>
              <a:buFont typeface="Arial"/>
              <a:buNone/>
            </a:pPr>
            <a:r>
              <a:rPr lang="iw"/>
              <a:t>מטרות של הסימולציה:</a:t>
            </a:r>
            <a:endParaRPr/>
          </a:p>
          <a:p>
            <a:pPr indent="0" lvl="0" marL="0" rtl="0" algn="l">
              <a:spcBef>
                <a:spcPts val="0"/>
              </a:spcBef>
              <a:spcAft>
                <a:spcPts val="0"/>
              </a:spcAft>
              <a:buNone/>
            </a:pPr>
            <a:r>
              <a:t/>
            </a:r>
            <a:endParaRPr/>
          </a:p>
        </p:txBody>
      </p:sp>
      <p:sp>
        <p:nvSpPr>
          <p:cNvPr id="170" name="Google Shape;170;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solidFill>
                  <a:schemeClr val="dk1"/>
                </a:solidFill>
              </a:rPr>
              <a:t>לדעת אם כמות המגלשות מספיקה בפארק או שצריך להוסיף עוד מגלשות, לדעת איזה מגלשה הכי אהובה בקרב המבקרים. </a:t>
            </a:r>
            <a:endParaRPr>
              <a:solidFill>
                <a:schemeClr val="dk1"/>
              </a:solidFill>
            </a:endParaRPr>
          </a:p>
          <a:p>
            <a:pPr indent="0" lvl="0" marL="0" rtl="1" algn="r">
              <a:spcBef>
                <a:spcPts val="1200"/>
              </a:spcBef>
              <a:spcAft>
                <a:spcPts val="0"/>
              </a:spcAft>
              <a:buNone/>
            </a:pPr>
            <a:r>
              <a:rPr lang="iw">
                <a:solidFill>
                  <a:schemeClr val="dk1"/>
                </a:solidFill>
              </a:rPr>
              <a:t>לדעת אם יש מספיק קופות בפארק או אם יש צורך בקופות נוספות.</a:t>
            </a:r>
            <a:endParaRPr>
              <a:solidFill>
                <a:schemeClr val="dk1"/>
              </a:solidFill>
            </a:endParaRPr>
          </a:p>
          <a:p>
            <a:pPr indent="0" lvl="0" marL="0" rtl="1" algn="r">
              <a:spcBef>
                <a:spcPts val="1200"/>
              </a:spcBef>
              <a:spcAft>
                <a:spcPts val="1200"/>
              </a:spcAft>
              <a:buNone/>
            </a:pPr>
            <a:r>
              <a:rPr lang="iw">
                <a:solidFill>
                  <a:schemeClr val="dk1"/>
                </a:solidFill>
              </a:rPr>
              <a:t>לדעת כמות אנשים שמבקרים בפארק.</a:t>
            </a:r>
            <a:endParaRPr>
              <a:solidFill>
                <a:schemeClr val="dk1"/>
              </a:solidFill>
            </a:endParaRPr>
          </a:p>
        </p:txBody>
      </p:sp>
      <p:pic>
        <p:nvPicPr>
          <p:cNvPr id="171" name="Google Shape;171;p27"/>
          <p:cNvPicPr preferRelativeResize="0"/>
          <p:nvPr/>
        </p:nvPicPr>
        <p:blipFill>
          <a:blip r:embed="rId3">
            <a:alphaModFix amt="40000"/>
          </a:blip>
          <a:stretch>
            <a:fillRect/>
          </a:stretch>
        </p:blipFill>
        <p:spPr>
          <a:xfrm>
            <a:off x="0" y="0"/>
            <a:ext cx="9144000" cy="5143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iw"/>
              <a:t>שימוש בAI</a:t>
            </a:r>
            <a:endParaRPr/>
          </a:p>
        </p:txBody>
      </p:sp>
      <p:sp>
        <p:nvSpPr>
          <p:cNvPr id="177" name="Google Shape;177;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1" algn="r">
              <a:spcBef>
                <a:spcPts val="0"/>
              </a:spcBef>
              <a:spcAft>
                <a:spcPts val="1200"/>
              </a:spcAft>
              <a:buNone/>
            </a:pPr>
            <a:r>
              <a:rPr lang="iw">
                <a:solidFill>
                  <a:schemeClr val="dk1"/>
                </a:solidFill>
              </a:rPr>
              <a:t>השתמשתי בGEMINI. הוא עזר לי לכתוב את הקוד ונתן עצות את לייעל את הקוד ובתקלות שונות שהופיעו תוך כדי עבודה עם הקוד.</a:t>
            </a:r>
            <a:endParaRPr>
              <a:solidFill>
                <a:schemeClr val="dk1"/>
              </a:solidFill>
            </a:endParaRPr>
          </a:p>
        </p:txBody>
      </p:sp>
      <p:pic>
        <p:nvPicPr>
          <p:cNvPr id="178" name="Google Shape;178;p28"/>
          <p:cNvPicPr preferRelativeResize="0"/>
          <p:nvPr/>
        </p:nvPicPr>
        <p:blipFill>
          <a:blip r:embed="rId3">
            <a:alphaModFix amt="40000"/>
          </a:blip>
          <a:stretch>
            <a:fillRect/>
          </a:stretch>
        </p:blipFill>
        <p:spPr>
          <a:xfrm>
            <a:off x="0" y="0"/>
            <a:ext cx="9144000" cy="5143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iw"/>
              <a:t>דוגמא לאיך הסימולציה תיראה</a:t>
            </a:r>
            <a:endParaRPr/>
          </a:p>
        </p:txBody>
      </p:sp>
      <p:sp>
        <p:nvSpPr>
          <p:cNvPr id="184" name="Google Shape;184;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85" name="Google Shape;185;p29"/>
          <p:cNvPicPr preferRelativeResize="0"/>
          <p:nvPr/>
        </p:nvPicPr>
        <p:blipFill>
          <a:blip r:embed="rId3">
            <a:alphaModFix/>
          </a:blip>
          <a:stretch>
            <a:fillRect/>
          </a:stretch>
        </p:blipFill>
        <p:spPr>
          <a:xfrm>
            <a:off x="107025" y="1017725"/>
            <a:ext cx="7581900" cy="4381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Clr>
                <a:schemeClr val="dk1"/>
              </a:buClr>
              <a:buSzPct val="39285"/>
              <a:buFont typeface="Arial"/>
              <a:buNone/>
            </a:pPr>
            <a:r>
              <a:rPr lang="iw"/>
              <a:t>דוגמא לאיך הסימולציה תיראה</a:t>
            </a:r>
            <a:endParaRPr/>
          </a:p>
          <a:p>
            <a:pPr indent="0" lvl="0" marL="0" rtl="0" algn="l">
              <a:spcBef>
                <a:spcPts val="0"/>
              </a:spcBef>
              <a:spcAft>
                <a:spcPts val="0"/>
              </a:spcAft>
              <a:buNone/>
            </a:pPr>
            <a:r>
              <a:t/>
            </a:r>
            <a:endParaRPr/>
          </a:p>
        </p:txBody>
      </p:sp>
      <p:pic>
        <p:nvPicPr>
          <p:cNvPr id="191" name="Google Shape;191;p30"/>
          <p:cNvPicPr preferRelativeResize="0"/>
          <p:nvPr/>
        </p:nvPicPr>
        <p:blipFill>
          <a:blip r:embed="rId3">
            <a:alphaModFix/>
          </a:blip>
          <a:stretch>
            <a:fillRect/>
          </a:stretch>
        </p:blipFill>
        <p:spPr>
          <a:xfrm>
            <a:off x="311700" y="990600"/>
            <a:ext cx="6572250" cy="31623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iw"/>
              <a:t>דוגמא לאיך הסיכום יראה</a:t>
            </a:r>
            <a:endParaRPr/>
          </a:p>
        </p:txBody>
      </p:sp>
      <p:sp>
        <p:nvSpPr>
          <p:cNvPr id="197" name="Google Shape;197;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98" name="Google Shape;198;p31"/>
          <p:cNvPicPr preferRelativeResize="0"/>
          <p:nvPr/>
        </p:nvPicPr>
        <p:blipFill>
          <a:blip r:embed="rId3">
            <a:alphaModFix/>
          </a:blip>
          <a:stretch>
            <a:fillRect/>
          </a:stretch>
        </p:blipFill>
        <p:spPr>
          <a:xfrm>
            <a:off x="0" y="1744972"/>
            <a:ext cx="9143999" cy="20979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